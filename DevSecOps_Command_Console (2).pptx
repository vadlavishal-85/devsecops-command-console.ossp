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36576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9050" dir="5400000">
              <a:srgbClr val="94A3B8">
                <a:alpha val="30000"/>
              </a:srgbClr>
            </a:outerShdw>
          </a:effectLst>
        </p:spPr>
      </p:sp>
      <p:pic>
        <p:nvPicPr>
          <p:cNvPr id="3" name="Image 0" descr="/home/claude/b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052560" y="438912"/>
            <a:ext cx="2560320" cy="90525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Command Console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0332720" y="6565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12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234440"/>
            <a:ext cx="7772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Console</a:t>
            </a:r>
            <a:endParaRPr lang="en-US" sz="5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9718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Secure, Modular Linux Command Console in C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640080" y="3520440"/>
            <a:ext cx="5394960" cy="411480"/>
          </a:xfrm>
          <a:prstGeom prst="roundRect">
            <a:avLst>
              <a:gd name="adj" fmla="val 48889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352044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Technical Project  ·  Week 1 – Week 9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503920" y="1691640"/>
            <a:ext cx="3200400" cy="2240280"/>
          </a:xfrm>
          <a:prstGeom prst="roundRect">
            <a:avLst>
              <a:gd name="adj" fmla="val 2449"/>
            </a:avLst>
          </a:prstGeom>
          <a:solidFill>
            <a:srgbClr val="EEF4FA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41080" y="1764792"/>
            <a:ext cx="2926080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devshell&gt; pwd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devshell&gt; ls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devshell&gt; cd src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devshell&gt; help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devshell&gt; _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457200" y="461772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457200" y="4617720"/>
            <a:ext cx="2697480" cy="1691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40080" y="480060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40080" y="4800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VV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5532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Vadla Vishal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5943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2510080031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3310128" y="461772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CFFAFE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3310128" y="4617720"/>
            <a:ext cx="2697480" cy="1691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493008" y="480060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3493008" y="4800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3493008" y="5532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Shirisha Mangalagiri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3493008" y="5943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2510080017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6163056" y="461772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6163056" y="4617720"/>
            <a:ext cx="2697480" cy="1691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6345936" y="4800600"/>
            <a:ext cx="640080" cy="6400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345936" y="4800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6345936" y="5532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Tejaswini Singam</a:t>
            </a:r>
            <a:endParaRPr lang="en-US" sz="1700" dirty="0"/>
          </a:p>
        </p:txBody>
      </p:sp>
      <p:sp>
        <p:nvSpPr>
          <p:cNvPr id="30" name="Text 27"/>
          <p:cNvSpPr txBox="1"/>
          <p:nvPr/>
        </p:nvSpPr>
        <p:spPr>
          <a:xfrm>
            <a:off x="6345936" y="5943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2510080049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9015984" y="461772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FFEDD5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32" name="Text 29"/>
          <p:cNvSpPr txBox="1"/>
          <p:nvPr/>
        </p:nvSpPr>
        <p:spPr>
          <a:xfrm>
            <a:off x="9015984" y="4617720"/>
            <a:ext cx="2697480" cy="1691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9198864" y="4800600"/>
            <a:ext cx="640080" cy="64008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9198864" y="4800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</a:t>
            </a:r>
            <a:endParaRPr lang="en-US" sz="1800" dirty="0"/>
          </a:p>
        </p:txBody>
      </p:sp>
      <p:sp>
        <p:nvSpPr>
          <p:cNvPr id="35" name="Text 32"/>
          <p:cNvSpPr txBox="1"/>
          <p:nvPr/>
        </p:nvSpPr>
        <p:spPr>
          <a:xfrm>
            <a:off x="9198864" y="5532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Krishna Vamshi Pallemoni</a:t>
            </a:r>
            <a:endParaRPr lang="en-US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9198864" y="5943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2510080034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777240" cy="7772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292608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1: Project Foundation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921240" y="22860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9050" dir="5400000">
              <a:srgbClr val="94A3B8">
                <a:alpha val="30000"/>
              </a:srgbClr>
            </a:outerShdw>
          </a:effectLst>
        </p:spPr>
      </p:sp>
      <p:pic>
        <p:nvPicPr>
          <p:cNvPr id="6" name="Image 0" descr="/home/claude/b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012680" y="301752"/>
            <a:ext cx="1600200" cy="7223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Command Console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0332720" y="6565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1828800"/>
            <a:ext cx="3931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DevSecOps Command Console project</a:t>
            </a:r>
            <a:endParaRPr lang="en-US" sz="1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Linux/Ubuntu environment</a:t>
            </a:r>
            <a:endParaRPr lang="en-US" sz="1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programming</a:t>
            </a:r>
            <a:endParaRPr lang="en-US" sz="1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project structure</a:t>
            </a:r>
            <a:endParaRPr lang="en-US" sz="1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Makefile and compilation</a:t>
            </a:r>
            <a:endParaRPr lang="en-US" sz="1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command-line shell loop</a:t>
            </a:r>
            <a:endParaRPr lang="en-US" sz="1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prompt:  devshell&gt;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4754880" y="1371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4754880" y="1828800"/>
            <a:ext cx="3566160" cy="2194560"/>
          </a:xfrm>
          <a:prstGeom prst="roundRect">
            <a:avLst>
              <a:gd name="adj" fmla="val 2500"/>
            </a:avLst>
          </a:prstGeom>
          <a:solidFill>
            <a:srgbClr val="EEF4FA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92040" y="1901952"/>
            <a:ext cx="329184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DevSecOps_Command_Console/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src/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include/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Makefile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README.md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754880" y="4297680"/>
            <a:ext cx="3566160" cy="822960"/>
          </a:xfrm>
          <a:prstGeom prst="roundRect">
            <a:avLst>
              <a:gd name="adj" fmla="val 6667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892040" y="4370832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devshell&gt; _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8686800" y="1371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flow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8686800" y="1828800"/>
            <a:ext cx="3017520" cy="640080"/>
          </a:xfrm>
          <a:prstGeom prst="roundRect">
            <a:avLst>
              <a:gd name="adj" fmla="val 11429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8686800" y="1828800"/>
            <a:ext cx="30175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(src/, include/)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8686800" y="24688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▼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8686800" y="2852928"/>
            <a:ext cx="3017520" cy="640080"/>
          </a:xfrm>
          <a:prstGeom prst="roundRect">
            <a:avLst>
              <a:gd name="adj" fmla="val 11429"/>
            </a:avLst>
          </a:prstGeom>
          <a:solidFill>
            <a:srgbClr val="CFFAFE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8686800" y="2852928"/>
            <a:ext cx="30175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Makefile → compile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8686800" y="349300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▼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8686800" y="3877056"/>
            <a:ext cx="3017520" cy="640080"/>
          </a:xfrm>
          <a:prstGeom prst="roundRect">
            <a:avLst>
              <a:gd name="adj" fmla="val 11429"/>
            </a:avLst>
          </a:prstGeom>
          <a:solidFill>
            <a:srgbClr val="FFEDD5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8686800" y="3877056"/>
            <a:ext cx="30175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Executable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8686800" y="451713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▼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8686800" y="4901184"/>
            <a:ext cx="3017520" cy="640080"/>
          </a:xfrm>
          <a:prstGeom prst="roundRect">
            <a:avLst>
              <a:gd name="adj" fmla="val 11429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8686800" y="4901184"/>
            <a:ext cx="30175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loop  devshell&gt;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457200" y="5897880"/>
            <a:ext cx="11247120" cy="594360"/>
          </a:xfrm>
          <a:prstGeom prst="roundRect">
            <a:avLst>
              <a:gd name="adj" fmla="val 12308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40080" y="58978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modular C project that compiles with Make and runs a basic shell loop with a prompt.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777240" cy="7772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292608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2: Dynamic Input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921240" y="22860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9050" dir="5400000">
              <a:srgbClr val="94A3B8">
                <a:alpha val="30000"/>
              </a:srgbClr>
            </a:outerShdw>
          </a:effectLst>
        </p:spPr>
      </p:sp>
      <p:pic>
        <p:nvPicPr>
          <p:cNvPr id="6" name="Image 0" descr="/home/claude/b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012680" y="301752"/>
            <a:ext cx="1600200" cy="7223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Command Console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0332720" y="6565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371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buffer flow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57200" y="1828800"/>
            <a:ext cx="3383280" cy="530352"/>
          </a:xfrm>
          <a:prstGeom prst="roundRect">
            <a:avLst>
              <a:gd name="adj" fmla="val 13793"/>
            </a:avLst>
          </a:prstGeom>
          <a:solidFill>
            <a:srgbClr val="CFFAFE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57200" y="1828800"/>
            <a:ext cx="338328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Input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23591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▼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57200" y="2633472"/>
            <a:ext cx="3383280" cy="530352"/>
          </a:xfrm>
          <a:prstGeom prst="roundRect">
            <a:avLst>
              <a:gd name="adj" fmla="val 13793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457200" y="2633472"/>
            <a:ext cx="338328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malloc()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316382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▼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457200" y="3438144"/>
            <a:ext cx="3383280" cy="530352"/>
          </a:xfrm>
          <a:prstGeom prst="roundRect">
            <a:avLst>
              <a:gd name="adj" fmla="val 13793"/>
            </a:avLst>
          </a:prstGeom>
          <a:solidFill>
            <a:srgbClr val="CFFAFE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457200" y="3438144"/>
            <a:ext cx="338328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Buffer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39684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▼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457200" y="4242816"/>
            <a:ext cx="3383280" cy="530352"/>
          </a:xfrm>
          <a:prstGeom prst="roundRect">
            <a:avLst>
              <a:gd name="adj" fmla="val 13793"/>
            </a:avLst>
          </a:prstGeom>
          <a:solidFill>
            <a:srgbClr val="FFEDD5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457200" y="4242816"/>
            <a:ext cx="338328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realloc() when required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47731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▼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457200" y="5047488"/>
            <a:ext cx="3383280" cy="530352"/>
          </a:xfrm>
          <a:prstGeom prst="roundRect">
            <a:avLst>
              <a:gd name="adj" fmla="val 13793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457200" y="5047488"/>
            <a:ext cx="338328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 Command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429768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(simplified)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4297680" y="1828800"/>
            <a:ext cx="4572000" cy="3840480"/>
          </a:xfrm>
          <a:prstGeom prst="roundRect">
            <a:avLst>
              <a:gd name="adj" fmla="val 1429"/>
            </a:avLst>
          </a:prstGeom>
          <a:solidFill>
            <a:srgbClr val="EEF4FA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434840" y="1901952"/>
            <a:ext cx="4297680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buffer = malloc(initial_size)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reading input: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buffer is full: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buffer = realloc(buffer,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larger_size)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free(buffer)  // when done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9235440" y="1371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2000" dirty="0"/>
          </a:p>
        </p:txBody>
      </p:sp>
      <p:sp>
        <p:nvSpPr>
          <p:cNvPr id="28" name="Text 25"/>
          <p:cNvSpPr txBox="1"/>
          <p:nvPr/>
        </p:nvSpPr>
        <p:spPr>
          <a:xfrm>
            <a:off x="9235440" y="1828800"/>
            <a:ext cx="24688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command input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malloc()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realloc()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free()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expanding input buffer</a:t>
            </a:r>
            <a:endParaRPr lang="en-US" sz="1700" dirty="0"/>
          </a:p>
        </p:txBody>
      </p:sp>
      <p:sp>
        <p:nvSpPr>
          <p:cNvPr id="29" name="Shape 26"/>
          <p:cNvSpPr/>
          <p:nvPr/>
        </p:nvSpPr>
        <p:spPr>
          <a:xfrm>
            <a:off x="457200" y="5897880"/>
            <a:ext cx="11247120" cy="594360"/>
          </a:xfrm>
          <a:prstGeom prst="roundRect">
            <a:avLst>
              <a:gd name="adj" fmla="val 12308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40080" y="58978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can accept dynamically sized user input.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777240" cy="7772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292608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3: Command Parsing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921240" y="22860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9050" dir="5400000">
              <a:srgbClr val="94A3B8">
                <a:alpha val="30000"/>
              </a:srgbClr>
            </a:outerShdw>
          </a:effectLst>
        </p:spPr>
      </p:sp>
      <p:pic>
        <p:nvPicPr>
          <p:cNvPr id="6" name="Image 0" descr="/home/claude/b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012680" y="301752"/>
            <a:ext cx="1600200" cy="7223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Command Console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0332720" y="6565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2801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input → arguments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57200" y="1737360"/>
            <a:ext cx="4206240" cy="3931920"/>
          </a:xfrm>
          <a:prstGeom prst="roundRect">
            <a:avLst>
              <a:gd name="adj" fmla="val 1395"/>
            </a:avLst>
          </a:prstGeom>
          <a:solidFill>
            <a:srgbClr val="EEF4FA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94360" y="1810512"/>
            <a:ext cx="3931920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-l /home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↓  Parser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tokens[0] = ls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tokens[1] = -l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tokens[2] = /home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tokens[3] = NULL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5029200" y="1280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flow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029200" y="1737360"/>
            <a:ext cx="3108960" cy="685800"/>
          </a:xfrm>
          <a:prstGeom prst="roundRect">
            <a:avLst>
              <a:gd name="adj" fmla="val 10667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5029200" y="1737360"/>
            <a:ext cx="310896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Line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5029200" y="2423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▼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029200" y="2834640"/>
            <a:ext cx="3108960" cy="685800"/>
          </a:xfrm>
          <a:prstGeom prst="roundRect">
            <a:avLst>
              <a:gd name="adj" fmla="val 10667"/>
            </a:avLst>
          </a:prstGeom>
          <a:solidFill>
            <a:srgbClr val="CFFAFE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5029200" y="2834640"/>
            <a:ext cx="310896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5029200" y="35204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▼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5029200" y="3931920"/>
            <a:ext cx="3108960" cy="685800"/>
          </a:xfrm>
          <a:prstGeom prst="roundRect">
            <a:avLst>
              <a:gd name="adj" fmla="val 10667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5029200" y="3931920"/>
            <a:ext cx="310896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+ Arguments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5029200" y="46177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▼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5029200" y="5029200"/>
            <a:ext cx="3108960" cy="685800"/>
          </a:xfrm>
          <a:prstGeom prst="roundRect">
            <a:avLst>
              <a:gd name="adj" fmla="val 10667"/>
            </a:avLst>
          </a:prstGeom>
          <a:solidFill>
            <a:srgbClr val="FFEDD5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5029200" y="5029200"/>
            <a:ext cx="310896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Execution-ready structure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8595360" y="1280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8595360" y="1783080"/>
            <a:ext cx="31089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parser.c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parser.h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strtok()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arrays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token storage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termination (for execvp)</a:t>
            </a:r>
            <a:endParaRPr lang="en-US" sz="1700" dirty="0"/>
          </a:p>
        </p:txBody>
      </p:sp>
      <p:sp>
        <p:nvSpPr>
          <p:cNvPr id="26" name="Shape 23"/>
          <p:cNvSpPr/>
          <p:nvPr/>
        </p:nvSpPr>
        <p:spPr>
          <a:xfrm>
            <a:off x="457200" y="5897880"/>
            <a:ext cx="11247120" cy="594360"/>
          </a:xfrm>
          <a:prstGeom prst="roundRect">
            <a:avLst>
              <a:gd name="adj" fmla="val 12308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40080" y="58978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console can understand commands and their arguments.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777240" cy="7772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292608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4: Process Execution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921240" y="22860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9050" dir="5400000">
              <a:srgbClr val="94A3B8">
                <a:alpha val="30000"/>
              </a:srgbClr>
            </a:outerShdw>
          </a:effectLst>
        </p:spPr>
      </p:sp>
      <p:pic>
        <p:nvPicPr>
          <p:cNvPr id="6" name="Image 0" descr="/home/claude/b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012680" y="301752"/>
            <a:ext cx="1600200" cy="7223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Command Console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0332720" y="6565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743200" y="128016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2743200" y="1280160"/>
            <a:ext cx="22860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3886200" y="1737360"/>
            <a:ext cx="0" cy="320040"/>
          </a:xfrm>
          <a:prstGeom prst="line">
            <a:avLst/>
          </a:prstGeom>
          <a:noFill/>
          <a:ln w="2222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743200" y="205740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EDD5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2743200" y="2057400"/>
            <a:ext cx="22860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fork()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 flipH="1">
            <a:off x="2103120" y="2514600"/>
            <a:ext cx="1188720" cy="548640"/>
          </a:xfrm>
          <a:prstGeom prst="line">
            <a:avLst/>
          </a:prstGeom>
          <a:noFill/>
          <a:ln w="2222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4480560" y="2514600"/>
            <a:ext cx="1188720" cy="548640"/>
          </a:xfrm>
          <a:prstGeom prst="line">
            <a:avLst/>
          </a:prstGeom>
          <a:noFill/>
          <a:ln w="2222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731520" y="306324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CFFAFE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731520" y="3063240"/>
            <a:ext cx="27432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4297680" y="306324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CFFAFE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4297680" y="3063240"/>
            <a:ext cx="27432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2103120" y="3520440"/>
            <a:ext cx="0" cy="365760"/>
          </a:xfrm>
          <a:prstGeom prst="line">
            <a:avLst/>
          </a:prstGeom>
          <a:noFill/>
          <a:ln w="2222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5669280" y="3520440"/>
            <a:ext cx="0" cy="365760"/>
          </a:xfrm>
          <a:prstGeom prst="line">
            <a:avLst/>
          </a:prstGeom>
          <a:noFill/>
          <a:ln w="2222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731520" y="388620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731520" y="3886200"/>
            <a:ext cx="27432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waitpid()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4297680" y="388620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4297680" y="3886200"/>
            <a:ext cx="27432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execvp()  →  Linux command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2103120" y="4389120"/>
            <a:ext cx="1188720" cy="594360"/>
          </a:xfrm>
          <a:prstGeom prst="line">
            <a:avLst/>
          </a:prstGeom>
          <a:noFill/>
          <a:ln w="2222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 flipH="1">
            <a:off x="4480560" y="4389120"/>
            <a:ext cx="1188720" cy="594360"/>
          </a:xfrm>
          <a:prstGeom prst="line">
            <a:avLst/>
          </a:prstGeom>
          <a:noFill/>
          <a:ln w="2222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2743200" y="498348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16A34A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2743200" y="4983480"/>
            <a:ext cx="22860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700" dirty="0"/>
          </a:p>
        </p:txBody>
      </p:sp>
      <p:sp>
        <p:nvSpPr>
          <p:cNvPr id="30" name="Text 27"/>
          <p:cNvSpPr txBox="1"/>
          <p:nvPr/>
        </p:nvSpPr>
        <p:spPr>
          <a:xfrm>
            <a:off x="7680960" y="12801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7680960" y="1737360"/>
            <a:ext cx="4023360" cy="1371600"/>
          </a:xfrm>
          <a:prstGeom prst="roundRect">
            <a:avLst>
              <a:gd name="adj" fmla="val 4000"/>
            </a:avLst>
          </a:prstGeom>
          <a:solidFill>
            <a:srgbClr val="EEF4FA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818120" y="1810512"/>
            <a:ext cx="374904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devshell&gt; ls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Makefile  README.md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include   src</a:t>
            </a:r>
            <a:endParaRPr lang="en-US" sz="1700" dirty="0"/>
          </a:p>
        </p:txBody>
      </p:sp>
      <p:sp>
        <p:nvSpPr>
          <p:cNvPr id="33" name="Text 30"/>
          <p:cNvSpPr txBox="1"/>
          <p:nvPr/>
        </p:nvSpPr>
        <p:spPr>
          <a:xfrm>
            <a:off x="7680960" y="33375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</a:t>
            </a:r>
            <a:endParaRPr lang="en-US" sz="2000" dirty="0"/>
          </a:p>
        </p:txBody>
      </p:sp>
      <p:sp>
        <p:nvSpPr>
          <p:cNvPr id="34" name="Text 31"/>
          <p:cNvSpPr txBox="1"/>
          <p:nvPr/>
        </p:nvSpPr>
        <p:spPr>
          <a:xfrm>
            <a:off x="7680960" y="3794760"/>
            <a:ext cx="4023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fork() – create child process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execvp() – run Linux command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waitpid() – parent waits for child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/ child process model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process management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457200" y="5897880"/>
            <a:ext cx="11247120" cy="594360"/>
          </a:xfrm>
          <a:prstGeom prst="roundRect">
            <a:avLst>
              <a:gd name="adj" fmla="val 12308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40080" y="58978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Linux commands can be executed through child processes.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777240" cy="7772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292608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5: Built-in Commands &amp; Environment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921240" y="22860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9050" dir="5400000">
              <a:srgbClr val="94A3B8">
                <a:alpha val="30000"/>
              </a:srgbClr>
            </a:outerShdw>
          </a:effectLst>
        </p:spPr>
      </p:sp>
      <p:pic>
        <p:nvPicPr>
          <p:cNvPr id="6" name="Image 0" descr="/home/claude/b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012680" y="301752"/>
            <a:ext cx="1600200" cy="7223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Command Console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0332720" y="6565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2240280" cy="1371600"/>
          </a:xfrm>
          <a:prstGeom prst="roundRect">
            <a:avLst>
              <a:gd name="adj" fmla="val 5333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57200" y="1371600"/>
            <a:ext cx="224028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14630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201168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directory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2834640" y="1371600"/>
            <a:ext cx="2240280" cy="1371600"/>
          </a:xfrm>
          <a:prstGeom prst="roundRect">
            <a:avLst>
              <a:gd name="adj" fmla="val 5333"/>
            </a:avLst>
          </a:prstGeom>
          <a:solidFill>
            <a:srgbClr val="CFFAFE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2834640" y="1371600"/>
            <a:ext cx="224028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2834640" y="14630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pwd</a:t>
            </a:r>
            <a:endParaRPr lang="en-US" sz="2800" dirty="0"/>
          </a:p>
        </p:txBody>
      </p:sp>
      <p:sp>
        <p:nvSpPr>
          <p:cNvPr id="16" name="Text 13"/>
          <p:cNvSpPr txBox="1"/>
          <p:nvPr/>
        </p:nvSpPr>
        <p:spPr>
          <a:xfrm>
            <a:off x="2926080" y="201168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current directory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212080" y="1371600"/>
            <a:ext cx="2240280" cy="1371600"/>
          </a:xfrm>
          <a:prstGeom prst="roundRect">
            <a:avLst>
              <a:gd name="adj" fmla="val 5333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5212080" y="1371600"/>
            <a:ext cx="224028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5212080" y="14630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</a:t>
            </a:r>
            <a:endParaRPr lang="en-US" sz="28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0" y="201168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terminal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457200" y="2880360"/>
            <a:ext cx="2240280" cy="1371600"/>
          </a:xfrm>
          <a:prstGeom prst="roundRect">
            <a:avLst>
              <a:gd name="adj" fmla="val 5333"/>
            </a:avLst>
          </a:prstGeom>
          <a:solidFill>
            <a:srgbClr val="FFEDD5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457200" y="2880360"/>
            <a:ext cx="224028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" y="29718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help</a:t>
            </a:r>
            <a:endParaRPr lang="en-US" sz="28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35204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available commands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2834640" y="2880360"/>
            <a:ext cx="2240280" cy="1371600"/>
          </a:xfrm>
          <a:prstGeom prst="roundRect">
            <a:avLst>
              <a:gd name="adj" fmla="val 5333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2834640" y="2880360"/>
            <a:ext cx="224028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2834640" y="29718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endParaRPr lang="en-US" sz="2800" dirty="0"/>
          </a:p>
        </p:txBody>
      </p:sp>
      <p:sp>
        <p:nvSpPr>
          <p:cNvPr id="28" name="Text 25"/>
          <p:cNvSpPr txBox="1"/>
          <p:nvPr/>
        </p:nvSpPr>
        <p:spPr>
          <a:xfrm>
            <a:off x="2926080" y="35204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environment information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5212080" y="2880360"/>
            <a:ext cx="2240280" cy="1371600"/>
          </a:xfrm>
          <a:prstGeom prst="roundRect">
            <a:avLst>
              <a:gd name="adj" fmla="val 5333"/>
            </a:avLst>
          </a:prstGeom>
          <a:solidFill>
            <a:srgbClr val="CFFAFE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5212080" y="2880360"/>
            <a:ext cx="224028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5212080" y="29718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</a:t>
            </a:r>
            <a:endParaRPr lang="en-US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5303520" y="35204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Terminate console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7863840" y="1280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/ C functions</a:t>
            </a:r>
            <a:endParaRPr lang="en-US" sz="2000" dirty="0"/>
          </a:p>
        </p:txBody>
      </p:sp>
      <p:sp>
        <p:nvSpPr>
          <p:cNvPr id="34" name="Shape 31"/>
          <p:cNvSpPr/>
          <p:nvPr/>
        </p:nvSpPr>
        <p:spPr>
          <a:xfrm>
            <a:off x="7863840" y="1737360"/>
            <a:ext cx="3840480" cy="1463040"/>
          </a:xfrm>
          <a:prstGeom prst="roundRect">
            <a:avLst>
              <a:gd name="adj" fmla="val 3750"/>
            </a:avLst>
          </a:prstGeom>
          <a:solidFill>
            <a:srgbClr val="EEF4FA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001000" y="1810512"/>
            <a:ext cx="35661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getcwd()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chdir()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getenv()</a:t>
            </a:r>
            <a:endParaRPr lang="en-US" sz="2200" dirty="0"/>
          </a:p>
        </p:txBody>
      </p:sp>
      <p:sp>
        <p:nvSpPr>
          <p:cNvPr id="36" name="Shape 33"/>
          <p:cNvSpPr/>
          <p:nvPr/>
        </p:nvSpPr>
        <p:spPr>
          <a:xfrm>
            <a:off x="7863840" y="347472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FEDD5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37" name="Text 34"/>
          <p:cNvSpPr txBox="1"/>
          <p:nvPr/>
        </p:nvSpPr>
        <p:spPr>
          <a:xfrm>
            <a:off x="7863840" y="3474720"/>
            <a:ext cx="384048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commands run inside the shell itself — no separate child process (no fork).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457200" y="4526280"/>
            <a:ext cx="7132320" cy="1188720"/>
          </a:xfrm>
          <a:prstGeom prst="roundRect">
            <a:avLst>
              <a:gd name="adj" fmla="val 4615"/>
            </a:avLst>
          </a:prstGeom>
          <a:solidFill>
            <a:srgbClr val="EEF4FA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594360" y="4599432"/>
            <a:ext cx="68580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devshell&gt; pwd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devshell&gt; cd src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devshell&gt; help</a:t>
            </a:r>
            <a:endParaRPr lang="en-US" sz="1700" dirty="0"/>
          </a:p>
        </p:txBody>
      </p:sp>
      <p:sp>
        <p:nvSpPr>
          <p:cNvPr id="40" name="Shape 37"/>
          <p:cNvSpPr/>
          <p:nvPr/>
        </p:nvSpPr>
        <p:spPr>
          <a:xfrm>
            <a:off x="457200" y="5897880"/>
            <a:ext cx="11247120" cy="594360"/>
          </a:xfrm>
          <a:prstGeom prst="roundRect">
            <a:avLst>
              <a:gd name="adj" fmla="val 12308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40080" y="58978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shell functionality was added.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777240" cy="77724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292608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6: Signal Handling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921240" y="22860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9050" dir="5400000">
              <a:srgbClr val="94A3B8">
                <a:alpha val="30000"/>
              </a:srgbClr>
            </a:outerShdw>
          </a:effectLst>
        </p:spPr>
      </p:sp>
      <p:pic>
        <p:nvPicPr>
          <p:cNvPr id="6" name="Image 0" descr="/home/claude/b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012680" y="301752"/>
            <a:ext cx="1600200" cy="7223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Command Console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0332720" y="6565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1325880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57200" y="1325880"/>
            <a:ext cx="164592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2103120" y="132588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2377440" y="1325880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CFFAFE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2377440" y="1325880"/>
            <a:ext cx="164592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Ctrl+C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023360" y="132588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4297680" y="1325880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FFEDD5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4297680" y="1325880"/>
            <a:ext cx="164592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(SIGINT)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5943600" y="132588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6217920" y="1325880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6217920" y="1325880"/>
            <a:ext cx="164592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Handler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7863840" y="132588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8138160" y="1325880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8138160" y="1325880"/>
            <a:ext cx="164592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Shell Behavior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9784080" y="132588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10058400" y="1325880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CFFAFE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10058400" y="1325880"/>
            <a:ext cx="164592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devshell&gt;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457200" y="2560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457200" y="3017520"/>
            <a:ext cx="4206240" cy="1554480"/>
          </a:xfrm>
          <a:prstGeom prst="roundRect">
            <a:avLst>
              <a:gd name="adj" fmla="val 3529"/>
            </a:avLst>
          </a:prstGeom>
          <a:solidFill>
            <a:srgbClr val="EEF4FA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94360" y="3090672"/>
            <a:ext cx="393192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devshell&gt; command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^C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devshell&gt;</a:t>
            </a:r>
            <a:endParaRPr lang="en-US" sz="2200" dirty="0"/>
          </a:p>
        </p:txBody>
      </p:sp>
      <p:sp>
        <p:nvSpPr>
          <p:cNvPr id="29" name="Text 26"/>
          <p:cNvSpPr txBox="1"/>
          <p:nvPr/>
        </p:nvSpPr>
        <p:spPr>
          <a:xfrm>
            <a:off x="5029200" y="2560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files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5029200" y="3017520"/>
            <a:ext cx="3200400" cy="1554480"/>
          </a:xfrm>
          <a:prstGeom prst="roundRect">
            <a:avLst>
              <a:gd name="adj" fmla="val 3529"/>
            </a:avLst>
          </a:prstGeom>
          <a:solidFill>
            <a:srgbClr val="EEF4FA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166360" y="3090672"/>
            <a:ext cx="292608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src/signals.c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include/signals.h</a:t>
            </a:r>
            <a:endParaRPr lang="en-US" sz="1700" dirty="0"/>
          </a:p>
        </p:txBody>
      </p:sp>
      <p:sp>
        <p:nvSpPr>
          <p:cNvPr id="32" name="Text 29"/>
          <p:cNvSpPr txBox="1"/>
          <p:nvPr/>
        </p:nvSpPr>
        <p:spPr>
          <a:xfrm>
            <a:off x="8595360" y="2560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2000" dirty="0"/>
          </a:p>
        </p:txBody>
      </p:sp>
      <p:sp>
        <p:nvSpPr>
          <p:cNvPr id="33" name="Text 30"/>
          <p:cNvSpPr txBox="1"/>
          <p:nvPr/>
        </p:nvSpPr>
        <p:spPr>
          <a:xfrm>
            <a:off x="8595360" y="301752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SIGINT / Ctrl+C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handling module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interruption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stability</a:t>
            </a:r>
            <a:endParaRPr lang="en-US" sz="1700" dirty="0"/>
          </a:p>
        </p:txBody>
      </p:sp>
      <p:sp>
        <p:nvSpPr>
          <p:cNvPr id="34" name="Shape 31"/>
          <p:cNvSpPr/>
          <p:nvPr/>
        </p:nvSpPr>
        <p:spPr>
          <a:xfrm>
            <a:off x="457200" y="4754880"/>
            <a:ext cx="7772400" cy="822960"/>
          </a:xfrm>
          <a:prstGeom prst="roundRect">
            <a:avLst>
              <a:gd name="adj" fmla="val 8889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35" name="Text 32"/>
          <p:cNvSpPr txBox="1"/>
          <p:nvPr/>
        </p:nvSpPr>
        <p:spPr>
          <a:xfrm>
            <a:off x="457200" y="4754880"/>
            <a:ext cx="777240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shell stays in control and returns to the prompt.</a:t>
            </a:r>
            <a:endParaRPr lang="en-US" sz="1700" dirty="0"/>
          </a:p>
        </p:txBody>
      </p:sp>
      <p:sp>
        <p:nvSpPr>
          <p:cNvPr id="36" name="Shape 33"/>
          <p:cNvSpPr/>
          <p:nvPr/>
        </p:nvSpPr>
        <p:spPr>
          <a:xfrm>
            <a:off x="457200" y="5897880"/>
            <a:ext cx="11247120" cy="594360"/>
          </a:xfrm>
          <a:prstGeom prst="roundRect">
            <a:avLst>
              <a:gd name="adj" fmla="val 12308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40080" y="58978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shell can handle user interrupts more safely without unnecessarily terminating the console.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777240" cy="77724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292608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7: Security Layer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921240" y="22860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9050" dir="5400000">
              <a:srgbClr val="94A3B8">
                <a:alpha val="30000"/>
              </a:srgbClr>
            </a:outerShdw>
          </a:effectLst>
        </p:spPr>
      </p:sp>
      <p:pic>
        <p:nvPicPr>
          <p:cNvPr id="6" name="Image 0" descr="/home/claude/b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012680" y="301752"/>
            <a:ext cx="1600200" cy="7223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Command Console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0332720" y="6565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57200" y="1371600"/>
            <a:ext cx="210312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2560320" y="137160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2880360" y="137160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FFEDD5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2880360" y="1371600"/>
            <a:ext cx="210312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validate_command()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983480" y="137160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5303520" y="137160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CFFAFE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5303520" y="1371600"/>
            <a:ext cx="210312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7406640" y="137160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7726680" y="137160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FFEDD5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7726680" y="1371600"/>
            <a:ext cx="210312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is_command_allowed()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10012680" y="1234440"/>
            <a:ext cx="1737360" cy="594360"/>
          </a:xfrm>
          <a:prstGeom prst="roundRect">
            <a:avLst>
              <a:gd name="adj" fmla="val 12308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10012680" y="1234440"/>
            <a:ext cx="173736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→ Execute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10012680" y="1965960"/>
            <a:ext cx="1737360" cy="594360"/>
          </a:xfrm>
          <a:prstGeom prst="roundRect">
            <a:avLst>
              <a:gd name="adj" fmla="val 12308"/>
            </a:avLst>
          </a:prstGeom>
          <a:solidFill>
            <a:srgbClr val="FFEDD5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10012680" y="1965960"/>
            <a:ext cx="173736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→ Security Alert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9601200" y="137160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457200" y="29260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command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457200" y="3383280"/>
            <a:ext cx="4480560" cy="2286000"/>
          </a:xfrm>
          <a:prstGeom prst="roundRect">
            <a:avLst>
              <a:gd name="adj" fmla="val 2400"/>
            </a:avLst>
          </a:prstGeom>
          <a:solidFill>
            <a:srgbClr val="FFF7ED"/>
          </a:solidFill>
          <a:ln w="25400">
            <a:solidFill>
              <a:srgbClr val="EA580C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94360" y="3456432"/>
            <a:ext cx="4206240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devshell&gt; unauthorized_command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 Alert: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 is not allowed.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5303520" y="2926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2000" dirty="0"/>
          </a:p>
        </p:txBody>
      </p:sp>
      <p:sp>
        <p:nvSpPr>
          <p:cNvPr id="29" name="Text 26"/>
          <p:cNvSpPr txBox="1"/>
          <p:nvPr/>
        </p:nvSpPr>
        <p:spPr>
          <a:xfrm>
            <a:off x="5303520" y="338328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whitelist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command blocking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before execution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inside the shell workflow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8778240" y="2926080"/>
            <a:ext cx="2926080" cy="2743200"/>
          </a:xfrm>
          <a:prstGeom prst="roundRect">
            <a:avLst>
              <a:gd name="adj" fmla="val 33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961120" y="3017520"/>
            <a:ext cx="2560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
</a:t>
            </a:r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“Security is integrated into the command execution pipeline.”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457200" y="5897880"/>
            <a:ext cx="11247120" cy="594360"/>
          </a:xfrm>
          <a:prstGeom prst="roundRect">
            <a:avLst>
              <a:gd name="adj" fmla="val 12308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40080" y="58978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console evolved from a basic shell into a security-focused command console.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777240" cy="7772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292608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8: Memory Management, Debugging &amp; Verification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921240" y="22860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9050" dir="5400000">
              <a:srgbClr val="94A3B8">
                <a:alpha val="30000"/>
              </a:srgbClr>
            </a:outerShdw>
          </a:effectLst>
        </p:spPr>
      </p:sp>
      <p:pic>
        <p:nvPicPr>
          <p:cNvPr id="6" name="Image 0" descr="/home/claude/b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012680" y="301752"/>
            <a:ext cx="1600200" cy="7223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Command Console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0332720" y="6565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1280160"/>
            <a:ext cx="3657600" cy="1005840"/>
          </a:xfrm>
          <a:prstGeom prst="roundRect">
            <a:avLst>
              <a:gd name="adj" fmla="val 7273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57200" y="1280160"/>
            <a:ext cx="365760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128016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GDB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Source-level debugging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4251960" y="1280160"/>
            <a:ext cx="3657600" cy="1005840"/>
          </a:xfrm>
          <a:prstGeom prst="roundRect">
            <a:avLst>
              <a:gd name="adj" fmla="val 7273"/>
            </a:avLst>
          </a:prstGeom>
          <a:solidFill>
            <a:srgbClr val="CFFAFE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4251960" y="1280160"/>
            <a:ext cx="365760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251960" y="128016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AddressSanitizer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error detection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8046720" y="1280160"/>
            <a:ext cx="3657600" cy="1005840"/>
          </a:xfrm>
          <a:prstGeom prst="roundRect">
            <a:avLst>
              <a:gd name="adj" fmla="val 7273"/>
            </a:avLst>
          </a:prstGeom>
          <a:solidFill>
            <a:srgbClr val="FFEDD5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8046720" y="1280160"/>
            <a:ext cx="365760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046720" y="128016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Valgrind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leak detection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457200" y="2560320"/>
            <a:ext cx="6949440" cy="3200400"/>
          </a:xfrm>
          <a:prstGeom prst="roundRect">
            <a:avLst>
              <a:gd name="adj" fmla="val 2857"/>
            </a:avLst>
          </a:prstGeom>
          <a:solidFill>
            <a:srgbClr val="DCFCE7"/>
          </a:solidFill>
          <a:ln w="38100">
            <a:solidFill>
              <a:srgbClr val="16A34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31520" y="2651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VALGRIND RESULT  ✓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731520" y="3154680"/>
            <a:ext cx="6492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bytes in 0 blocks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allocs, 10 frees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heap blocks were freed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 SUMMARY: 0 errors</a:t>
            </a:r>
            <a:endParaRPr lang="en-US" sz="2500" dirty="0"/>
          </a:p>
        </p:txBody>
      </p:sp>
      <p:sp>
        <p:nvSpPr>
          <p:cNvPr id="21" name="Text 18"/>
          <p:cNvSpPr txBox="1"/>
          <p:nvPr/>
        </p:nvSpPr>
        <p:spPr>
          <a:xfrm>
            <a:off x="7772400" y="2560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handling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7772400" y="3063240"/>
            <a:ext cx="3931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malloc()</a:t>
            </a:r>
            <a:endParaRPr lang="en-US" sz="1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realloc()</a:t>
            </a:r>
            <a:endParaRPr lang="en-US" sz="1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free()</a:t>
            </a:r>
            <a:endParaRPr lang="en-US" sz="1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cleanup</a:t>
            </a:r>
            <a:endParaRPr lang="en-US" sz="1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Exit-path memory management</a:t>
            </a:r>
            <a:endParaRPr lang="en-US" sz="1900" dirty="0"/>
          </a:p>
        </p:txBody>
      </p:sp>
      <p:sp>
        <p:nvSpPr>
          <p:cNvPr id="23" name="Shape 20"/>
          <p:cNvSpPr/>
          <p:nvPr/>
        </p:nvSpPr>
        <p:spPr>
          <a:xfrm>
            <a:off x="457200" y="5897880"/>
            <a:ext cx="11247120" cy="594360"/>
          </a:xfrm>
          <a:prstGeom prst="roundRect">
            <a:avLst>
              <a:gd name="adj" fmla="val 12308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" y="58978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allocation and cleanup were successfully verified.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777240" cy="7772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292608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9: File Descriptors &amp; I/O Redirection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921240" y="22860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9050" dir="5400000">
              <a:srgbClr val="94A3B8">
                <a:alpha val="30000"/>
              </a:srgbClr>
            </a:outerShdw>
          </a:effectLst>
        </p:spPr>
      </p:sp>
      <p:pic>
        <p:nvPicPr>
          <p:cNvPr id="6" name="Image 0" descr="/home/claude/b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012680" y="301752"/>
            <a:ext cx="1600200" cy="7223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Command Console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0332720" y="6565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1280160"/>
            <a:ext cx="1783080" cy="640080"/>
          </a:xfrm>
          <a:prstGeom prst="roundRect">
            <a:avLst>
              <a:gd name="adj" fmla="val 11429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57200" y="1280160"/>
            <a:ext cx="178308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→ stdin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2377440" y="1280160"/>
            <a:ext cx="1783080" cy="640080"/>
          </a:xfrm>
          <a:prstGeom prst="roundRect">
            <a:avLst>
              <a:gd name="adj" fmla="val 11429"/>
            </a:avLst>
          </a:prstGeom>
          <a:solidFill>
            <a:srgbClr val="CFFAFE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2377440" y="1280160"/>
            <a:ext cx="178308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→ stdout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297680" y="1280160"/>
            <a:ext cx="1783080" cy="640080"/>
          </a:xfrm>
          <a:prstGeom prst="roundRect">
            <a:avLst>
              <a:gd name="adj" fmla="val 11429"/>
            </a:avLst>
          </a:prstGeom>
          <a:solidFill>
            <a:srgbClr val="FFEDD5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4297680" y="1280160"/>
            <a:ext cx="178308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→ stderr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6400800" y="128016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400800" y="1280160"/>
            <a:ext cx="12801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 Output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772400" y="128016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7772400" y="1280160"/>
            <a:ext cx="12801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 Append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144000" y="128016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CFFAFE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9144000" y="1280160"/>
            <a:ext cx="12801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 Input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10515600" y="128016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FFEDD5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10515600" y="1280160"/>
            <a:ext cx="12801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2&gt; Error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457200" y="2240280"/>
            <a:ext cx="1691640" cy="685800"/>
          </a:xfrm>
          <a:prstGeom prst="roundRect">
            <a:avLst>
              <a:gd name="adj" fmla="val 10667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457200" y="2240280"/>
            <a:ext cx="16916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2148840" y="2240280"/>
            <a:ext cx="2194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→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2368296" y="2240280"/>
            <a:ext cx="1691640" cy="685800"/>
          </a:xfrm>
          <a:prstGeom prst="roundRect">
            <a:avLst>
              <a:gd name="adj" fmla="val 10667"/>
            </a:avLst>
          </a:prstGeom>
          <a:solidFill>
            <a:srgbClr val="FFEDD5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2368296" y="2240280"/>
            <a:ext cx="16916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fork()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4059936" y="2240280"/>
            <a:ext cx="2194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→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4279392" y="2240280"/>
            <a:ext cx="1691640" cy="685800"/>
          </a:xfrm>
          <a:prstGeom prst="roundRect">
            <a:avLst>
              <a:gd name="adj" fmla="val 10667"/>
            </a:avLst>
          </a:prstGeom>
          <a:solidFill>
            <a:srgbClr val="CFFAFE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4279392" y="2240280"/>
            <a:ext cx="16916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 Process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5971032" y="2240280"/>
            <a:ext cx="2194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→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6190488" y="2240280"/>
            <a:ext cx="1691640" cy="685800"/>
          </a:xfrm>
          <a:prstGeom prst="roundRect">
            <a:avLst>
              <a:gd name="adj" fmla="val 10667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33" name="Text 30"/>
          <p:cNvSpPr txBox="1"/>
          <p:nvPr/>
        </p:nvSpPr>
        <p:spPr>
          <a:xfrm>
            <a:off x="6190488" y="2240280"/>
            <a:ext cx="16916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open()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7882128" y="2240280"/>
            <a:ext cx="2194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→</a:t>
            </a:r>
            <a:endParaRPr lang="en-US" sz="1800" dirty="0"/>
          </a:p>
        </p:txBody>
      </p:sp>
      <p:sp>
        <p:nvSpPr>
          <p:cNvPr id="35" name="Shape 32"/>
          <p:cNvSpPr/>
          <p:nvPr/>
        </p:nvSpPr>
        <p:spPr>
          <a:xfrm>
            <a:off x="8101584" y="2240280"/>
            <a:ext cx="1691640" cy="685800"/>
          </a:xfrm>
          <a:prstGeom prst="roundRect">
            <a:avLst>
              <a:gd name="adj" fmla="val 10667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36" name="Text 33"/>
          <p:cNvSpPr txBox="1"/>
          <p:nvPr/>
        </p:nvSpPr>
        <p:spPr>
          <a:xfrm>
            <a:off x="8101584" y="2240280"/>
            <a:ext cx="16916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dup2()</a:t>
            </a:r>
            <a:endParaRPr lang="en-US" sz="1600" dirty="0"/>
          </a:p>
        </p:txBody>
      </p:sp>
      <p:sp>
        <p:nvSpPr>
          <p:cNvPr id="37" name="Text 34"/>
          <p:cNvSpPr txBox="1"/>
          <p:nvPr/>
        </p:nvSpPr>
        <p:spPr>
          <a:xfrm>
            <a:off x="9793224" y="2240280"/>
            <a:ext cx="2194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→</a:t>
            </a:r>
            <a:endParaRPr lang="en-US" sz="1800" dirty="0"/>
          </a:p>
        </p:txBody>
      </p:sp>
      <p:sp>
        <p:nvSpPr>
          <p:cNvPr id="38" name="Shape 35"/>
          <p:cNvSpPr/>
          <p:nvPr/>
        </p:nvSpPr>
        <p:spPr>
          <a:xfrm>
            <a:off x="10012680" y="2240280"/>
            <a:ext cx="1691640" cy="685800"/>
          </a:xfrm>
          <a:prstGeom prst="roundRect">
            <a:avLst>
              <a:gd name="adj" fmla="val 10667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39" name="Text 36"/>
          <p:cNvSpPr txBox="1"/>
          <p:nvPr/>
        </p:nvSpPr>
        <p:spPr>
          <a:xfrm>
            <a:off x="10012680" y="2240280"/>
            <a:ext cx="16916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execvp()</a:t>
            </a:r>
            <a:endParaRPr lang="en-US" sz="1600" dirty="0"/>
          </a:p>
        </p:txBody>
      </p:sp>
      <p:sp>
        <p:nvSpPr>
          <p:cNvPr id="40" name="Text 37"/>
          <p:cNvSpPr txBox="1"/>
          <p:nvPr/>
        </p:nvSpPr>
        <p:spPr>
          <a:xfrm>
            <a:off x="457200" y="3154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2000" dirty="0"/>
          </a:p>
        </p:txBody>
      </p:sp>
      <p:sp>
        <p:nvSpPr>
          <p:cNvPr id="41" name="Shape 38"/>
          <p:cNvSpPr/>
          <p:nvPr/>
        </p:nvSpPr>
        <p:spPr>
          <a:xfrm>
            <a:off x="457200" y="3611880"/>
            <a:ext cx="5852160" cy="2148840"/>
          </a:xfrm>
          <a:prstGeom prst="roundRect">
            <a:avLst>
              <a:gd name="adj" fmla="val 2553"/>
            </a:avLst>
          </a:prstGeom>
          <a:solidFill>
            <a:srgbClr val="EEF4FA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594360" y="3685032"/>
            <a:ext cx="5577840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&gt; output.txt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&gt;&gt; output.txt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&lt; input.txt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invalid 2&gt; error.txt</a:t>
            </a:r>
            <a:endParaRPr lang="en-US" sz="2000" dirty="0"/>
          </a:p>
        </p:txBody>
      </p:sp>
      <p:sp>
        <p:nvSpPr>
          <p:cNvPr id="43" name="Text 40"/>
          <p:cNvSpPr txBox="1"/>
          <p:nvPr/>
        </p:nvSpPr>
        <p:spPr>
          <a:xfrm>
            <a:off x="6675120" y="3154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calls</a:t>
            </a:r>
            <a:endParaRPr lang="en-US" sz="2000" dirty="0"/>
          </a:p>
        </p:txBody>
      </p:sp>
      <p:sp>
        <p:nvSpPr>
          <p:cNvPr id="44" name="Shape 41"/>
          <p:cNvSpPr/>
          <p:nvPr/>
        </p:nvSpPr>
        <p:spPr>
          <a:xfrm>
            <a:off x="6675120" y="3611880"/>
            <a:ext cx="2377440" cy="2148840"/>
          </a:xfrm>
          <a:prstGeom prst="roundRect">
            <a:avLst>
              <a:gd name="adj" fmla="val 2553"/>
            </a:avLst>
          </a:prstGeom>
          <a:solidFill>
            <a:srgbClr val="EEF4FA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6812280" y="3685032"/>
            <a:ext cx="2103120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open()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dup2()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close()</a:t>
            </a:r>
            <a:endParaRPr lang="en-US" sz="2000" dirty="0"/>
          </a:p>
        </p:txBody>
      </p:sp>
      <p:sp>
        <p:nvSpPr>
          <p:cNvPr id="46" name="Shape 43"/>
          <p:cNvSpPr/>
          <p:nvPr/>
        </p:nvSpPr>
        <p:spPr>
          <a:xfrm>
            <a:off x="9326880" y="3611880"/>
            <a:ext cx="2377440" cy="2148840"/>
          </a:xfrm>
          <a:prstGeom prst="roundRect">
            <a:avLst>
              <a:gd name="adj" fmla="val 3404"/>
            </a:avLst>
          </a:prstGeom>
          <a:solidFill>
            <a:srgbClr val="FFEDD5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47" name="Text 44"/>
          <p:cNvSpPr txBox="1"/>
          <p:nvPr/>
        </p:nvSpPr>
        <p:spPr>
          <a:xfrm>
            <a:off x="9326880" y="3611880"/>
            <a:ext cx="2377440" cy="2148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in the child process, before execvp()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457200" y="5897880"/>
            <a:ext cx="11247120" cy="594360"/>
          </a:xfrm>
          <a:prstGeom prst="roundRect">
            <a:avLst>
              <a:gd name="adj" fmla="val 12308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640080" y="58978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File-descriptor based I/O redirection is implemented in the child process before command execution.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777240" cy="7772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292608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Evolution: Week 1 → Week 9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921240" y="22860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9050" dir="5400000">
              <a:srgbClr val="94A3B8">
                <a:alpha val="30000"/>
              </a:srgbClr>
            </a:outerShdw>
          </a:effectLst>
        </p:spPr>
      </p:sp>
      <p:pic>
        <p:nvPicPr>
          <p:cNvPr id="6" name="Image 0" descr="/home/claude/b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012680" y="301752"/>
            <a:ext cx="1600200" cy="7223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Command Console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0332720" y="6565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22960" y="1572768"/>
            <a:ext cx="10515600" cy="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" y="1280160"/>
            <a:ext cx="594360" cy="59436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1280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457200" y="2011680"/>
            <a:ext cx="1188720" cy="1371600"/>
          </a:xfrm>
          <a:prstGeom prst="roundRect">
            <a:avLst>
              <a:gd name="adj" fmla="val 6154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457200" y="2011680"/>
            <a:ext cx="118872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2011680"/>
            <a:ext cx="118872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Makefile · shell loop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039112" y="1280160"/>
            <a:ext cx="594360" cy="594360"/>
          </a:xfrm>
          <a:prstGeom prst="ellipse">
            <a:avLst/>
          </a:prstGeom>
          <a:solidFill>
            <a:srgbClr val="0891B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039112" y="1280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1719072" y="2011680"/>
            <a:ext cx="1188720" cy="1371600"/>
          </a:xfrm>
          <a:prstGeom prst="roundRect">
            <a:avLst>
              <a:gd name="adj" fmla="val 6154"/>
            </a:avLst>
          </a:prstGeom>
          <a:solidFill>
            <a:srgbClr val="CFFAFE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1719072" y="2011680"/>
            <a:ext cx="118872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719072" y="2011680"/>
            <a:ext cx="118872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Memory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malloc · realloc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300984" y="1280160"/>
            <a:ext cx="594360" cy="594360"/>
          </a:xfrm>
          <a:prstGeom prst="ellipse">
            <a:avLst/>
          </a:prstGeom>
          <a:solidFill>
            <a:srgbClr val="16A3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300984" y="1280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2980944" y="2011680"/>
            <a:ext cx="1188720" cy="1371600"/>
          </a:xfrm>
          <a:prstGeom prst="roundRect">
            <a:avLst>
              <a:gd name="adj" fmla="val 6154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2980944" y="2011680"/>
            <a:ext cx="118872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2980944" y="2011680"/>
            <a:ext cx="118872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strtok · tokens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562856" y="1280160"/>
            <a:ext cx="594360" cy="594360"/>
          </a:xfrm>
          <a:prstGeom prst="ellipse">
            <a:avLst/>
          </a:prstGeom>
          <a:solidFill>
            <a:srgbClr val="EA580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62856" y="1280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4242816" y="2011680"/>
            <a:ext cx="1188720" cy="1371600"/>
          </a:xfrm>
          <a:prstGeom prst="roundRect">
            <a:avLst>
              <a:gd name="adj" fmla="val 6154"/>
            </a:avLst>
          </a:prstGeom>
          <a:solidFill>
            <a:srgbClr val="FFEDD5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4242816" y="2011680"/>
            <a:ext cx="118872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4242816" y="2011680"/>
            <a:ext cx="118872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· execvp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824728" y="1280160"/>
            <a:ext cx="594360" cy="59436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824728" y="1280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Shape 29"/>
          <p:cNvSpPr/>
          <p:nvPr/>
        </p:nvSpPr>
        <p:spPr>
          <a:xfrm>
            <a:off x="5504688" y="2011680"/>
            <a:ext cx="1188720" cy="1371600"/>
          </a:xfrm>
          <a:prstGeom prst="roundRect">
            <a:avLst>
              <a:gd name="adj" fmla="val 6154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33" name="Text 30"/>
          <p:cNvSpPr txBox="1"/>
          <p:nvPr/>
        </p:nvSpPr>
        <p:spPr>
          <a:xfrm>
            <a:off x="5504688" y="2011680"/>
            <a:ext cx="118872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504688" y="2011680"/>
            <a:ext cx="118872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· pwd · env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7086600" y="1280160"/>
            <a:ext cx="594360" cy="594360"/>
          </a:xfrm>
          <a:prstGeom prst="ellipse">
            <a:avLst/>
          </a:prstGeom>
          <a:solidFill>
            <a:srgbClr val="0891B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86600" y="1280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7" name="Shape 34"/>
          <p:cNvSpPr/>
          <p:nvPr/>
        </p:nvSpPr>
        <p:spPr>
          <a:xfrm>
            <a:off x="6766560" y="2011680"/>
            <a:ext cx="1188720" cy="1371600"/>
          </a:xfrm>
          <a:prstGeom prst="roundRect">
            <a:avLst>
              <a:gd name="adj" fmla="val 6154"/>
            </a:avLst>
          </a:prstGeom>
          <a:solidFill>
            <a:srgbClr val="CFFAFE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38" name="Text 35"/>
          <p:cNvSpPr txBox="1"/>
          <p:nvPr/>
        </p:nvSpPr>
        <p:spPr>
          <a:xfrm>
            <a:off x="6766560" y="2011680"/>
            <a:ext cx="118872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39" name="Text 36"/>
          <p:cNvSpPr txBox="1"/>
          <p:nvPr/>
        </p:nvSpPr>
        <p:spPr>
          <a:xfrm>
            <a:off x="6766560" y="2011680"/>
            <a:ext cx="118872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SIGINT · Ctrl+C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8348472" y="1280160"/>
            <a:ext cx="594360" cy="594360"/>
          </a:xfrm>
          <a:prstGeom prst="ellipse">
            <a:avLst/>
          </a:prstGeom>
          <a:solidFill>
            <a:srgbClr val="EA580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348472" y="1280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42" name="Shape 39"/>
          <p:cNvSpPr/>
          <p:nvPr/>
        </p:nvSpPr>
        <p:spPr>
          <a:xfrm>
            <a:off x="8028432" y="2011680"/>
            <a:ext cx="1188720" cy="1371600"/>
          </a:xfrm>
          <a:prstGeom prst="roundRect">
            <a:avLst>
              <a:gd name="adj" fmla="val 6154"/>
            </a:avLst>
          </a:prstGeom>
          <a:solidFill>
            <a:srgbClr val="FFEDD5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028432" y="2011680"/>
            <a:ext cx="118872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44" name="Text 41"/>
          <p:cNvSpPr txBox="1"/>
          <p:nvPr/>
        </p:nvSpPr>
        <p:spPr>
          <a:xfrm>
            <a:off x="8028432" y="2011680"/>
            <a:ext cx="118872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whitelist · validate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9610344" y="1280160"/>
            <a:ext cx="594360" cy="594360"/>
          </a:xfrm>
          <a:prstGeom prst="ellipse">
            <a:avLst/>
          </a:prstGeom>
          <a:solidFill>
            <a:srgbClr val="16A3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610344" y="1280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47" name="Shape 44"/>
          <p:cNvSpPr/>
          <p:nvPr/>
        </p:nvSpPr>
        <p:spPr>
          <a:xfrm>
            <a:off x="9290304" y="2011680"/>
            <a:ext cx="1188720" cy="1371600"/>
          </a:xfrm>
          <a:prstGeom prst="roundRect">
            <a:avLst>
              <a:gd name="adj" fmla="val 6154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48" name="Text 45"/>
          <p:cNvSpPr txBox="1"/>
          <p:nvPr/>
        </p:nvSpPr>
        <p:spPr>
          <a:xfrm>
            <a:off x="9290304" y="2011680"/>
            <a:ext cx="118872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49" name="Text 46"/>
          <p:cNvSpPr txBox="1"/>
          <p:nvPr/>
        </p:nvSpPr>
        <p:spPr>
          <a:xfrm>
            <a:off x="9290304" y="2011680"/>
            <a:ext cx="118872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Valgrind · GDB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10872216" y="1280160"/>
            <a:ext cx="594360" cy="59436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10872216" y="1280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000" dirty="0"/>
          </a:p>
        </p:txBody>
      </p:sp>
      <p:sp>
        <p:nvSpPr>
          <p:cNvPr id="52" name="Shape 49"/>
          <p:cNvSpPr/>
          <p:nvPr/>
        </p:nvSpPr>
        <p:spPr>
          <a:xfrm>
            <a:off x="10552176" y="2011680"/>
            <a:ext cx="1188720" cy="1371600"/>
          </a:xfrm>
          <a:prstGeom prst="roundRect">
            <a:avLst>
              <a:gd name="adj" fmla="val 6154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53" name="Text 50"/>
          <p:cNvSpPr txBox="1"/>
          <p:nvPr/>
        </p:nvSpPr>
        <p:spPr>
          <a:xfrm>
            <a:off x="10552176" y="2011680"/>
            <a:ext cx="118872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54" name="Text 51"/>
          <p:cNvSpPr txBox="1"/>
          <p:nvPr/>
        </p:nvSpPr>
        <p:spPr>
          <a:xfrm>
            <a:off x="10552176" y="2011680"/>
            <a:ext cx="118872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Redirection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· dup2</a:t>
            </a:r>
            <a:endParaRPr lang="en-US" sz="120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3657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architecture</a:t>
            </a:r>
            <a:endParaRPr lang="en-US" sz="2000" dirty="0"/>
          </a:p>
        </p:txBody>
      </p:sp>
      <p:sp>
        <p:nvSpPr>
          <p:cNvPr id="56" name="Shape 53"/>
          <p:cNvSpPr/>
          <p:nvPr/>
        </p:nvSpPr>
        <p:spPr>
          <a:xfrm>
            <a:off x="457200" y="4114800"/>
            <a:ext cx="1170432" cy="73152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57" name="Text 54"/>
          <p:cNvSpPr txBox="1"/>
          <p:nvPr/>
        </p:nvSpPr>
        <p:spPr>
          <a:xfrm>
            <a:off x="457200" y="4114800"/>
            <a:ext cx="1170432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400" dirty="0"/>
          </a:p>
        </p:txBody>
      </p:sp>
      <p:sp>
        <p:nvSpPr>
          <p:cNvPr id="58" name="Text 55"/>
          <p:cNvSpPr txBox="1"/>
          <p:nvPr/>
        </p:nvSpPr>
        <p:spPr>
          <a:xfrm>
            <a:off x="1627632" y="4114800"/>
            <a:ext cx="256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→</a:t>
            </a:r>
            <a:endParaRPr lang="en-US" sz="1800" dirty="0"/>
          </a:p>
        </p:txBody>
      </p:sp>
      <p:sp>
        <p:nvSpPr>
          <p:cNvPr id="59" name="Shape 56"/>
          <p:cNvSpPr/>
          <p:nvPr/>
        </p:nvSpPr>
        <p:spPr>
          <a:xfrm>
            <a:off x="1883664" y="4114800"/>
            <a:ext cx="1170432" cy="731520"/>
          </a:xfrm>
          <a:prstGeom prst="roundRect">
            <a:avLst>
              <a:gd name="adj" fmla="val 10000"/>
            </a:avLst>
          </a:prstGeom>
          <a:solidFill>
            <a:srgbClr val="CFFAFE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60" name="Text 57"/>
          <p:cNvSpPr txBox="1"/>
          <p:nvPr/>
        </p:nvSpPr>
        <p:spPr>
          <a:xfrm>
            <a:off x="1883664" y="4114800"/>
            <a:ext cx="1170432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400" dirty="0"/>
          </a:p>
        </p:txBody>
      </p:sp>
      <p:sp>
        <p:nvSpPr>
          <p:cNvPr id="61" name="Text 58"/>
          <p:cNvSpPr txBox="1"/>
          <p:nvPr/>
        </p:nvSpPr>
        <p:spPr>
          <a:xfrm>
            <a:off x="3054096" y="4114800"/>
            <a:ext cx="256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→</a:t>
            </a:r>
            <a:endParaRPr lang="en-US" sz="1800" dirty="0"/>
          </a:p>
        </p:txBody>
      </p:sp>
      <p:sp>
        <p:nvSpPr>
          <p:cNvPr id="62" name="Shape 59"/>
          <p:cNvSpPr/>
          <p:nvPr/>
        </p:nvSpPr>
        <p:spPr>
          <a:xfrm>
            <a:off x="3310128" y="4114800"/>
            <a:ext cx="1170432" cy="73152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63" name="Text 60"/>
          <p:cNvSpPr txBox="1"/>
          <p:nvPr/>
        </p:nvSpPr>
        <p:spPr>
          <a:xfrm>
            <a:off x="3310128" y="4114800"/>
            <a:ext cx="1170432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</a:t>
            </a:r>
            <a:endParaRPr lang="en-US" sz="1400" dirty="0"/>
          </a:p>
        </p:txBody>
      </p:sp>
      <p:sp>
        <p:nvSpPr>
          <p:cNvPr id="64" name="Text 61"/>
          <p:cNvSpPr txBox="1"/>
          <p:nvPr/>
        </p:nvSpPr>
        <p:spPr>
          <a:xfrm>
            <a:off x="4480560" y="4114800"/>
            <a:ext cx="256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→</a:t>
            </a:r>
            <a:endParaRPr lang="en-US" sz="1800" dirty="0"/>
          </a:p>
        </p:txBody>
      </p:sp>
      <p:sp>
        <p:nvSpPr>
          <p:cNvPr id="65" name="Shape 62"/>
          <p:cNvSpPr/>
          <p:nvPr/>
        </p:nvSpPr>
        <p:spPr>
          <a:xfrm>
            <a:off x="4736592" y="4114800"/>
            <a:ext cx="1170432" cy="731520"/>
          </a:xfrm>
          <a:prstGeom prst="roundRect">
            <a:avLst>
              <a:gd name="adj" fmla="val 10000"/>
            </a:avLst>
          </a:prstGeom>
          <a:solidFill>
            <a:srgbClr val="FFEDD5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66" name="Text 63"/>
          <p:cNvSpPr txBox="1"/>
          <p:nvPr/>
        </p:nvSpPr>
        <p:spPr>
          <a:xfrm>
            <a:off x="4736592" y="4114800"/>
            <a:ext cx="1170432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00" dirty="0"/>
          </a:p>
        </p:txBody>
      </p:sp>
      <p:sp>
        <p:nvSpPr>
          <p:cNvPr id="67" name="Text 64"/>
          <p:cNvSpPr txBox="1"/>
          <p:nvPr/>
        </p:nvSpPr>
        <p:spPr>
          <a:xfrm>
            <a:off x="5907024" y="4114800"/>
            <a:ext cx="256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→</a:t>
            </a:r>
            <a:endParaRPr lang="en-US" sz="1800" dirty="0"/>
          </a:p>
        </p:txBody>
      </p:sp>
      <p:sp>
        <p:nvSpPr>
          <p:cNvPr id="68" name="Shape 65"/>
          <p:cNvSpPr/>
          <p:nvPr/>
        </p:nvSpPr>
        <p:spPr>
          <a:xfrm>
            <a:off x="6163056" y="4114800"/>
            <a:ext cx="1170432" cy="73152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69" name="Text 66"/>
          <p:cNvSpPr txBox="1"/>
          <p:nvPr/>
        </p:nvSpPr>
        <p:spPr>
          <a:xfrm>
            <a:off x="6163056" y="4114800"/>
            <a:ext cx="1170432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400" dirty="0"/>
          </a:p>
        </p:txBody>
      </p:sp>
      <p:sp>
        <p:nvSpPr>
          <p:cNvPr id="70" name="Text 67"/>
          <p:cNvSpPr txBox="1"/>
          <p:nvPr/>
        </p:nvSpPr>
        <p:spPr>
          <a:xfrm>
            <a:off x="7333488" y="4114800"/>
            <a:ext cx="256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→</a:t>
            </a:r>
            <a:endParaRPr lang="en-US" sz="1800" dirty="0"/>
          </a:p>
        </p:txBody>
      </p:sp>
      <p:sp>
        <p:nvSpPr>
          <p:cNvPr id="71" name="Shape 68"/>
          <p:cNvSpPr/>
          <p:nvPr/>
        </p:nvSpPr>
        <p:spPr>
          <a:xfrm>
            <a:off x="7589520" y="4114800"/>
            <a:ext cx="1170432" cy="731520"/>
          </a:xfrm>
          <a:prstGeom prst="roundRect">
            <a:avLst>
              <a:gd name="adj" fmla="val 10000"/>
            </a:avLst>
          </a:prstGeom>
          <a:solidFill>
            <a:srgbClr val="CFFAFE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72" name="Text 69"/>
          <p:cNvSpPr txBox="1"/>
          <p:nvPr/>
        </p:nvSpPr>
        <p:spPr>
          <a:xfrm>
            <a:off x="7589520" y="4114800"/>
            <a:ext cx="1170432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</a:t>
            </a:r>
            <a:endParaRPr lang="en-US" sz="1400" dirty="0"/>
          </a:p>
        </p:txBody>
      </p:sp>
      <p:sp>
        <p:nvSpPr>
          <p:cNvPr id="73" name="Text 70"/>
          <p:cNvSpPr txBox="1"/>
          <p:nvPr/>
        </p:nvSpPr>
        <p:spPr>
          <a:xfrm>
            <a:off x="8759952" y="4114800"/>
            <a:ext cx="256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→</a:t>
            </a:r>
            <a:endParaRPr lang="en-US" sz="1800" dirty="0"/>
          </a:p>
        </p:txBody>
      </p:sp>
      <p:sp>
        <p:nvSpPr>
          <p:cNvPr id="74" name="Shape 71"/>
          <p:cNvSpPr/>
          <p:nvPr/>
        </p:nvSpPr>
        <p:spPr>
          <a:xfrm>
            <a:off x="9015984" y="4114800"/>
            <a:ext cx="1170432" cy="73152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75" name="Text 72"/>
          <p:cNvSpPr txBox="1"/>
          <p:nvPr/>
        </p:nvSpPr>
        <p:spPr>
          <a:xfrm>
            <a:off x="9015984" y="4114800"/>
            <a:ext cx="1170432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Redirection</a:t>
            </a:r>
            <a:endParaRPr lang="en-US" sz="1400" dirty="0"/>
          </a:p>
        </p:txBody>
      </p:sp>
      <p:sp>
        <p:nvSpPr>
          <p:cNvPr id="76" name="Text 73"/>
          <p:cNvSpPr txBox="1"/>
          <p:nvPr/>
        </p:nvSpPr>
        <p:spPr>
          <a:xfrm>
            <a:off x="10186416" y="4114800"/>
            <a:ext cx="256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→</a:t>
            </a:r>
            <a:endParaRPr lang="en-US" sz="1800" dirty="0"/>
          </a:p>
        </p:txBody>
      </p:sp>
      <p:sp>
        <p:nvSpPr>
          <p:cNvPr id="77" name="Shape 74"/>
          <p:cNvSpPr/>
          <p:nvPr/>
        </p:nvSpPr>
        <p:spPr>
          <a:xfrm>
            <a:off x="10442448" y="4114800"/>
            <a:ext cx="1170432" cy="731520"/>
          </a:xfrm>
          <a:prstGeom prst="roundRect">
            <a:avLst>
              <a:gd name="adj" fmla="val 10000"/>
            </a:avLst>
          </a:prstGeom>
          <a:solidFill>
            <a:srgbClr val="FFEDD5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78" name="Text 75"/>
          <p:cNvSpPr txBox="1"/>
          <p:nvPr/>
        </p:nvSpPr>
        <p:spPr>
          <a:xfrm>
            <a:off x="10442448" y="4114800"/>
            <a:ext cx="1170432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</a:t>
            </a:r>
            <a:endParaRPr lang="en-US" sz="1400" dirty="0"/>
          </a:p>
        </p:txBody>
      </p:sp>
      <p:sp>
        <p:nvSpPr>
          <p:cNvPr id="79" name="Shape 76"/>
          <p:cNvSpPr/>
          <p:nvPr/>
        </p:nvSpPr>
        <p:spPr>
          <a:xfrm>
            <a:off x="457200" y="5120640"/>
            <a:ext cx="11247120" cy="685800"/>
          </a:xfrm>
          <a:prstGeom prst="roundRect">
            <a:avLst>
              <a:gd name="adj" fmla="val 1066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0" name="Text 77"/>
          <p:cNvSpPr txBox="1"/>
          <p:nvPr/>
        </p:nvSpPr>
        <p:spPr>
          <a:xfrm>
            <a:off x="640080" y="51206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week incrementally transformed the project into a more capable, secure and maintainable Linux command console.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777240" cy="7772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292608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Results &amp; Project Impact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921240" y="22860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9050" dir="5400000">
              <a:srgbClr val="94A3B8">
                <a:alpha val="30000"/>
              </a:srgbClr>
            </a:outerShdw>
          </a:effectLst>
        </p:spPr>
      </p:sp>
      <p:pic>
        <p:nvPicPr>
          <p:cNvPr id="6" name="Image 0" descr="/home/claude/b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012680" y="301752"/>
            <a:ext cx="1600200" cy="7223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Command Console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0332720" y="6565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5532120" cy="1627632"/>
          </a:xfrm>
          <a:prstGeom prst="roundRect">
            <a:avLst>
              <a:gd name="adj" fmla="val 4494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57200" y="1234440"/>
            <a:ext cx="5532120" cy="1627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130759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OF RESULTS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1691640"/>
            <a:ext cx="5212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verified · Runtime testing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testing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Valgrind verification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redirection testing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172200" y="1234440"/>
            <a:ext cx="5532120" cy="1627632"/>
          </a:xfrm>
          <a:prstGeom prst="roundRect">
            <a:avLst>
              <a:gd name="adj" fmla="val 4494"/>
            </a:avLst>
          </a:prstGeom>
          <a:solidFill>
            <a:srgbClr val="CFFAFE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172200" y="1234440"/>
            <a:ext cx="5532120" cy="1627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355080" y="130759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COMPETENCE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6355080" y="1691640"/>
            <a:ext cx="5212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programming · Linux system calls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management · Dynamic memory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· File descriptors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validation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57200" y="2926080"/>
            <a:ext cx="5532120" cy="1627632"/>
          </a:xfrm>
          <a:prstGeom prst="roundRect">
            <a:avLst>
              <a:gd name="adj" fmla="val 4494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457200" y="2926080"/>
            <a:ext cx="5532120" cy="1627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99923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SUSTAINABILITY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3383280"/>
            <a:ext cx="5212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Security-first command execution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architecture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Linux implementation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Maintainable, extensible design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172200" y="2926080"/>
            <a:ext cx="5532120" cy="1627632"/>
          </a:xfrm>
          <a:prstGeom prst="roundRect">
            <a:avLst>
              <a:gd name="adj" fmla="val 4494"/>
            </a:avLst>
          </a:prstGeom>
          <a:solidFill>
            <a:srgbClr val="FFEDD5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50800" dist="19050" dir="5400000">
              <a:srgbClr val="94A3B8">
                <a:alpha val="25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6172200" y="2926080"/>
            <a:ext cx="5532120" cy="1627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6355080" y="299923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TO SOCIETY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6355080" y="3383280"/>
            <a:ext cx="5212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Linux/C and cybersecurity education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training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software development learning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programming laboratory use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57200" y="466344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FFF7ED"/>
          </a:solidFill>
          <a:ln w="25400">
            <a:solidFill>
              <a:srgbClr val="EA580C"/>
            </a:solidFill>
            <a:prstDash val="dash"/>
          </a:ln>
        </p:spPr>
      </p:sp>
      <p:sp>
        <p:nvSpPr>
          <p:cNvPr id="26" name="Text 23"/>
          <p:cNvSpPr txBox="1"/>
          <p:nvPr/>
        </p:nvSpPr>
        <p:spPr>
          <a:xfrm>
            <a:off x="640080" y="466344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(not implemented):  </a:t>
            </a:r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redirections · Pipelines using pipe() · Background execution · Command history · Advanced logging/auditing · Stronger security policies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457200" y="5669280"/>
            <a:ext cx="11247120" cy="822960"/>
          </a:xfrm>
          <a:prstGeom prst="roundRect">
            <a:avLst>
              <a:gd name="adj" fmla="val 888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40080" y="566928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“From a basic Linux shell to a secure and extensible DevSecOps Command Console.”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9144000" y="56692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DevSecOps Command Console</dc:title>
  <dc:subject>PptxGenJS Presentation</dc:subject>
  <dc:creator>PptxGenJS</dc:creator>
  <cp:lastModifiedBy>PptxGenJS</cp:lastModifiedBy>
  <cp:revision>1</cp:revision>
  <dcterms:created xsi:type="dcterms:W3CDTF">2026-10-07T16:36:29Z</dcterms:created>
  <dcterms:modified xsi:type="dcterms:W3CDTF">2026-10-07T16:36:29Z</dcterms:modified>
</cp:coreProperties>
</file>